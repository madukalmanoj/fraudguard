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2"/>
  </p:notesMasterIdLst>
  <p:sldIdLst>
    <p:sldId id="256" r:id="rId2"/>
    <p:sldId id="257" r:id="rId3"/>
    <p:sldId id="258" r:id="rId4"/>
    <p:sldId id="259" r:id="rId5"/>
    <p:sldId id="261" r:id="rId6"/>
    <p:sldId id="262" r:id="rId7"/>
    <p:sldId id="265" r:id="rId8"/>
    <p:sldId id="266" r:id="rId9"/>
    <p:sldId id="264" r:id="rId10"/>
    <p:sldId id="263" r:id="rId11"/>
  </p:sldIdLst>
  <p:sldSz cx="9144000" cy="6858000" type="screen4x3"/>
  <p:notesSz cx="6858000" cy="9144000"/>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9" d="100"/>
          <a:sy n="89" d="100"/>
        </p:scale>
        <p:origin x="494" y="8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9BE35F-53EA-41C2-AE0E-912FD407B4BB}" type="datetimeFigureOut">
              <a:rPr lang="en-IN" smtClean="0"/>
              <a:pPr/>
              <a:t>07-08-2026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D02457-DCFD-4143-9E73-94629FE55431}"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0D02457-DCFD-4143-9E73-94629FE55431}" type="slidenum">
              <a:rPr lang="en-IN" smtClean="0"/>
              <a:pPr/>
              <a:t>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8576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118248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4466829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160593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619850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4126523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2576557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DDF080-5E8C-48AD-84E5-6C08B304C14E}"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solidFill>
                  <a:srgbClr val="FFFFFF"/>
                </a:solidFill>
              </a:rPr>
              <a:pPr/>
              <a:t>‹#›</a:t>
            </a:fld>
            <a:endParaRPr lang="en-US" dirty="0">
              <a:solidFill>
                <a:srgbClr val="FFFFFF"/>
              </a:solidFill>
            </a:endParaRPr>
          </a:p>
        </p:txBody>
      </p:sp>
    </p:spTree>
    <p:extLst>
      <p:ext uri="{BB962C8B-B14F-4D97-AF65-F5344CB8AC3E}">
        <p14:creationId xmlns:p14="http://schemas.microsoft.com/office/powerpoint/2010/main" val="35310540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686201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571969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540861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6245028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899159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3645880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136617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2502317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8/7/2026</a:t>
            </a:fld>
            <a:endParaRPr lang="en-US" dirty="0"/>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defTabSz="457200"/>
            <a:fld id="{D57F1E4F-1CFF-5643-939E-217C01CDF565}" type="slidenum">
              <a:rPr lang="en-US" smtClean="0">
                <a:solidFill>
                  <a:srgbClr val="000000">
                    <a:tint val="75000"/>
                  </a:srgbClr>
                </a:solidFill>
              </a:rPr>
              <a:pPr defTabSz="457200"/>
              <a:t>‹#›</a:t>
            </a:fld>
            <a:endParaRPr lang="en-US" dirty="0">
              <a:solidFill>
                <a:srgbClr val="000000">
                  <a:tint val="75000"/>
                </a:srgbClr>
              </a:solidFill>
            </a:endParaRPr>
          </a:p>
        </p:txBody>
      </p:sp>
    </p:spTree>
    <p:extLst>
      <p:ext uri="{BB962C8B-B14F-4D97-AF65-F5344CB8AC3E}">
        <p14:creationId xmlns:p14="http://schemas.microsoft.com/office/powerpoint/2010/main" val="731351470"/>
      </p:ext>
    </p:extLst>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 id="2147483984" r:id="rId10"/>
    <p:sldLayoutId id="2147483985" r:id="rId11"/>
    <p:sldLayoutId id="2147483986" r:id="rId12"/>
    <p:sldLayoutId id="2147483987" r:id="rId13"/>
    <p:sldLayoutId id="2147483988" r:id="rId14"/>
    <p:sldLayoutId id="2147483989" r:id="rId15"/>
    <p:sldLayoutId id="214748399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247035"/>
            <a:ext cx="7754880" cy="1011485"/>
          </a:xfrm>
        </p:spPr>
        <p:txBody>
          <a:bodyPr>
            <a:normAutofit fontScale="90000"/>
          </a:bodyPr>
          <a:lstStyle/>
          <a:p>
            <a:pPr algn="ctr"/>
            <a:r>
              <a:rPr lang="en-IN" sz="2700" b="1" dirty="0">
                <a:solidFill>
                  <a:schemeClr val="accent1">
                    <a:lumMod val="75000"/>
                  </a:schemeClr>
                </a:solidFill>
                <a:latin typeface="Times New Roman" panose="02020603050405020304" pitchFamily="18" charset="0"/>
                <a:cs typeface="Times New Roman" panose="02020603050405020304" pitchFamily="18" charset="0"/>
              </a:rPr>
              <a:t>    </a:t>
            </a:r>
            <a:r>
              <a:rPr lang="en-IN" sz="2200" b="1" dirty="0">
                <a:solidFill>
                  <a:schemeClr val="accent4">
                    <a:lumMod val="75000"/>
                  </a:schemeClr>
                </a:solidFill>
                <a:latin typeface="Times New Roman" panose="02020603050405020304" pitchFamily="18" charset="0"/>
                <a:cs typeface="Times New Roman" panose="02020603050405020304" pitchFamily="18" charset="0"/>
              </a:rPr>
              <a:t>TEEGALA KRISHNA REDDY ENGINEERING COLLEGE</a:t>
            </a:r>
            <a:br>
              <a:rPr lang="en-IN" sz="1800" dirty="0">
                <a:solidFill>
                  <a:schemeClr val="accent4">
                    <a:lumMod val="75000"/>
                  </a:schemeClr>
                </a:solidFill>
                <a:latin typeface="Times New Roman" panose="02020603050405020304" pitchFamily="18" charset="0"/>
                <a:cs typeface="Times New Roman" panose="02020603050405020304" pitchFamily="18" charset="0"/>
              </a:rPr>
            </a:br>
            <a:r>
              <a:rPr lang="en-IN" sz="1600" cap="none" dirty="0">
                <a:solidFill>
                  <a:schemeClr val="accent4">
                    <a:lumMod val="75000"/>
                  </a:schemeClr>
                </a:solidFill>
                <a:latin typeface="Times New Roman" panose="02020603050405020304" pitchFamily="18" charset="0"/>
                <a:cs typeface="Times New Roman" panose="02020603050405020304" pitchFamily="18" charset="0"/>
              </a:rPr>
              <a:t>(Approved By </a:t>
            </a:r>
            <a:r>
              <a:rPr lang="en-IN" sz="1600" cap="none" dirty="0">
                <a:solidFill>
                  <a:schemeClr val="tx1">
                    <a:lumMod val="75000"/>
                    <a:lumOff val="25000"/>
                  </a:schemeClr>
                </a:solidFill>
                <a:latin typeface="Times New Roman" panose="02020603050405020304" pitchFamily="18" charset="0"/>
                <a:cs typeface="Times New Roman" panose="02020603050405020304" pitchFamily="18" charset="0"/>
              </a:rPr>
              <a:t>AICTE</a:t>
            </a:r>
            <a:r>
              <a:rPr lang="en-IN" sz="1600" cap="none" dirty="0">
                <a:solidFill>
                  <a:schemeClr val="accent4">
                    <a:lumMod val="75000"/>
                  </a:schemeClr>
                </a:solidFill>
                <a:latin typeface="Times New Roman" panose="02020603050405020304" pitchFamily="18" charset="0"/>
                <a:cs typeface="Times New Roman" panose="02020603050405020304" pitchFamily="18" charset="0"/>
              </a:rPr>
              <a:t> , Affiliated To JNTUH, Accredited By NBA And NAAC)</a:t>
            </a:r>
            <a:endParaRPr lang="en-IN" sz="1800" dirty="0">
              <a:solidFill>
                <a:schemeClr val="accent4">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027174" y="2852937"/>
            <a:ext cx="7370044" cy="1152126"/>
          </a:xfrm>
        </p:spPr>
        <p:txBody>
          <a:bodyPr>
            <a:normAutofit/>
          </a:bodyPr>
          <a:lstStyle/>
          <a:p>
            <a:pPr algn="ctr"/>
            <a:endParaRPr lang="en-IN" sz="2400" dirty="0">
              <a:solidFill>
                <a:schemeClr val="accent5">
                  <a:lumMod val="50000"/>
                </a:schemeClr>
              </a:solidFill>
              <a:latin typeface="Times New Roman" panose="02020603050405020304" pitchFamily="18" charset="0"/>
              <a:cs typeface="Times New Roman" panose="02020603050405020304" pitchFamily="18" charset="0"/>
            </a:endParaRPr>
          </a:p>
          <a:p>
            <a:pPr algn="ctr"/>
            <a:r>
              <a:rPr lang="en-IN" sz="2400" dirty="0">
                <a:solidFill>
                  <a:schemeClr val="accent5">
                    <a:lumMod val="50000"/>
                  </a:schemeClr>
                </a:solidFill>
                <a:latin typeface="Times New Roman" panose="02020603050405020304" pitchFamily="18" charset="0"/>
                <a:cs typeface="Times New Roman" panose="02020603050405020304" pitchFamily="18" charset="0"/>
              </a:rPr>
              <a:t>Department of Computer Science &amp; Engineering</a:t>
            </a:r>
          </a:p>
        </p:txBody>
      </p:sp>
      <p:pic>
        <p:nvPicPr>
          <p:cNvPr id="5" name="Picture 4"/>
          <p:cNvPicPr>
            <a:picLocks noChangeAspect="1"/>
          </p:cNvPicPr>
          <p:nvPr/>
        </p:nvPicPr>
        <p:blipFill>
          <a:blip r:embed="rId2" cstate="print"/>
          <a:stretch>
            <a:fillRect/>
          </a:stretch>
        </p:blipFill>
        <p:spPr>
          <a:xfrm>
            <a:off x="3720302" y="1575795"/>
            <a:ext cx="1584175" cy="1277142"/>
          </a:xfrm>
          <a:prstGeom prst="rect">
            <a:avLst/>
          </a:prstGeom>
        </p:spPr>
      </p:pic>
      <p:cxnSp>
        <p:nvCxnSpPr>
          <p:cNvPr id="7" name="Straight Connector 6"/>
          <p:cNvCxnSpPr/>
          <p:nvPr/>
        </p:nvCxnSpPr>
        <p:spPr>
          <a:xfrm>
            <a:off x="437322" y="443947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42316" y="4293096"/>
            <a:ext cx="8140148"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Subtitle 2"/>
          <p:cNvSpPr txBox="1"/>
          <p:nvPr/>
        </p:nvSpPr>
        <p:spPr>
          <a:xfrm>
            <a:off x="1403648" y="4292952"/>
            <a:ext cx="7950282" cy="1656184"/>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buClr>
                <a:srgbClr val="0065A4"/>
              </a:buClr>
            </a:pPr>
            <a:r>
              <a:rPr lang="en-IN" u="sng" dirty="0">
                <a:solidFill>
                  <a:schemeClr val="tx1"/>
                </a:solidFill>
                <a:latin typeface="Times New Roman" panose="02020603050405020304" pitchFamily="18" charset="0"/>
                <a:cs typeface="Times New Roman" panose="02020603050405020304" pitchFamily="18" charset="0"/>
              </a:rPr>
              <a:t>HEAD OF THE DEPARTMENT</a:t>
            </a:r>
            <a:r>
              <a:rPr lang="en-IN" dirty="0">
                <a:solidFill>
                  <a:schemeClr val="tx1"/>
                </a:solidFill>
                <a:latin typeface="Times New Roman" panose="02020603050405020304" pitchFamily="18" charset="0"/>
                <a:cs typeface="Times New Roman" panose="02020603050405020304" pitchFamily="18" charset="0"/>
              </a:rPr>
              <a:t>		  		</a:t>
            </a:r>
            <a:r>
              <a:rPr lang="en-IN" u="sng" dirty="0">
                <a:solidFill>
                  <a:schemeClr val="tx1"/>
                </a:solidFill>
                <a:latin typeface="Times New Roman" panose="02020603050405020304" pitchFamily="18" charset="0"/>
                <a:cs typeface="Times New Roman" panose="02020603050405020304" pitchFamily="18" charset="0"/>
              </a:rPr>
              <a:t> PROJECT CO-ORDINATOR </a:t>
            </a:r>
            <a:endParaRPr lang="en-IN" dirty="0">
              <a:solidFill>
                <a:schemeClr val="tx1"/>
              </a:solidFill>
              <a:latin typeface="Times New Roman" panose="02020603050405020304" pitchFamily="18" charset="0"/>
              <a:cs typeface="Times New Roman" panose="02020603050405020304" pitchFamily="18" charset="0"/>
            </a:endParaRPr>
          </a:p>
          <a:p>
            <a:pPr algn="l">
              <a:buClr>
                <a:srgbClr val="0065A4"/>
              </a:buClr>
            </a:pPr>
            <a:r>
              <a:rPr lang="en-IN" dirty="0">
                <a:solidFill>
                  <a:schemeClr val="tx1"/>
                </a:solidFill>
                <a:latin typeface="Times New Roman" panose="02020603050405020304" pitchFamily="18" charset="0"/>
                <a:cs typeface="Times New Roman" panose="02020603050405020304" pitchFamily="18" charset="0"/>
              </a:rPr>
              <a:t>Dr. CH. V. PHANI KRISHNA                               		  </a:t>
            </a:r>
            <a:r>
              <a:rPr lang="en-IN" dirty="0" err="1">
                <a:solidFill>
                  <a:schemeClr val="tx1"/>
                </a:solidFill>
                <a:latin typeface="Times New Roman" panose="02020603050405020304" pitchFamily="18" charset="0"/>
                <a:cs typeface="Times New Roman" panose="02020603050405020304" pitchFamily="18" charset="0"/>
              </a:rPr>
              <a:t>Mrs.Ch.Divya</a:t>
            </a:r>
            <a:endParaRPr lang="en-IN" dirty="0">
              <a:solidFill>
                <a:schemeClr val="tx1"/>
              </a:solidFill>
              <a:latin typeface="Times New Roman" panose="02020603050405020304" pitchFamily="18" charset="0"/>
              <a:cs typeface="Times New Roman" panose="02020603050405020304" pitchFamily="18" charset="0"/>
            </a:endParaRPr>
          </a:p>
          <a:p>
            <a:pPr algn="l">
              <a:buClr>
                <a:srgbClr val="0065A4"/>
              </a:buClr>
            </a:pPr>
            <a:r>
              <a:rPr lang="en-IN" dirty="0">
                <a:solidFill>
                  <a:schemeClr val="tx1"/>
                </a:solidFill>
                <a:latin typeface="Times New Roman" panose="02020603050405020304" pitchFamily="18" charset="0"/>
                <a:cs typeface="Times New Roman" panose="02020603050405020304" pitchFamily="18" charset="0"/>
              </a:rPr>
              <a:t>		Professor							         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52"/>
        <p:cNvGrpSpPr/>
        <p:nvPr/>
      </p:nvGrpSpPr>
      <p:grpSpPr>
        <a:xfrm>
          <a:off x="0" y="0"/>
          <a:ext cx="0" cy="0"/>
          <a:chOff x="0" y="0"/>
          <a:chExt cx="0" cy="0"/>
        </a:xfrm>
      </p:grpSpPr>
      <p:cxnSp>
        <p:nvCxnSpPr>
          <p:cNvPr id="2053" name="Google Shape;2053;p1"/>
          <p:cNvCxnSpPr/>
          <p:nvPr/>
        </p:nvCxnSpPr>
        <p:spPr>
          <a:xfrm>
            <a:off x="323528" y="3717032"/>
            <a:ext cx="7741200" cy="30600"/>
          </a:xfrm>
          <a:prstGeom prst="straightConnector1">
            <a:avLst/>
          </a:prstGeom>
          <a:noFill/>
          <a:ln w="9525" cap="rnd" cmpd="sng">
            <a:solidFill>
              <a:srgbClr val="9D2D0F"/>
            </a:solidFill>
            <a:prstDash val="solid"/>
            <a:round/>
            <a:headEnd type="none" w="sm" len="sm"/>
            <a:tailEnd type="none" w="sm" len="sm"/>
          </a:ln>
        </p:spPr>
      </p:cxnSp>
      <p:sp>
        <p:nvSpPr>
          <p:cNvPr id="2054" name="Google Shape;2054;p1"/>
          <p:cNvSpPr txBox="1"/>
          <p:nvPr/>
        </p:nvSpPr>
        <p:spPr>
          <a:xfrm>
            <a:off x="899700" y="3963242"/>
            <a:ext cx="2509200" cy="15057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65A4"/>
              </a:buClr>
              <a:buSzPts val="1440"/>
              <a:buFont typeface="Noto Sans Symbols"/>
              <a:buNone/>
            </a:pPr>
            <a:r>
              <a:rPr lang="en-IN" sz="1800" b="0" i="0" u="sng" strike="noStrike" cap="none" dirty="0">
                <a:solidFill>
                  <a:schemeClr val="dk1"/>
                </a:solidFill>
                <a:latin typeface="Times New Roman"/>
                <a:ea typeface="Times New Roman"/>
                <a:cs typeface="Times New Roman"/>
                <a:sym typeface="Times New Roman"/>
              </a:rPr>
              <a:t>SUPERVISOR</a:t>
            </a:r>
            <a:endParaRPr dirty="0"/>
          </a:p>
          <a:p>
            <a:pPr marL="0" marR="0" lvl="0" indent="0" algn="l" rtl="0">
              <a:spcBef>
                <a:spcPts val="1000"/>
              </a:spcBef>
              <a:spcAft>
                <a:spcPts val="0"/>
              </a:spcAft>
              <a:buClr>
                <a:srgbClr val="0065A4"/>
              </a:buClr>
              <a:buSzPts val="1440"/>
              <a:buFont typeface="Noto Sans Symbols"/>
              <a:buNone/>
            </a:pPr>
            <a:r>
              <a:rPr lang="en-IN" sz="1800" b="0" i="0" u="none" strike="noStrike" cap="none" dirty="0">
                <a:solidFill>
                  <a:schemeClr val="dk1"/>
                </a:solidFill>
                <a:latin typeface="Times New Roman"/>
                <a:ea typeface="Times New Roman"/>
                <a:cs typeface="Times New Roman"/>
                <a:sym typeface="Times New Roman"/>
              </a:rPr>
              <a:t>	</a:t>
            </a:r>
            <a:r>
              <a:rPr lang="en-IN" dirty="0" err="1">
                <a:solidFill>
                  <a:schemeClr val="dk1"/>
                </a:solidFill>
                <a:latin typeface="Times New Roman"/>
                <a:ea typeface="Times New Roman"/>
                <a:cs typeface="Times New Roman"/>
                <a:sym typeface="Times New Roman"/>
              </a:rPr>
              <a:t>Y.Guravaiah</a:t>
            </a:r>
            <a:endParaRPr lang="en-IN" dirty="0">
              <a:solidFill>
                <a:schemeClr val="dk1"/>
              </a:solidFill>
              <a:latin typeface="Times New Roman"/>
              <a:ea typeface="Times New Roman"/>
              <a:cs typeface="Times New Roman"/>
              <a:sym typeface="Times New Roman"/>
            </a:endParaRPr>
          </a:p>
          <a:p>
            <a:pPr marL="0" marR="0" lvl="0" indent="0" algn="l" rtl="0">
              <a:spcBef>
                <a:spcPts val="1000"/>
              </a:spcBef>
              <a:spcAft>
                <a:spcPts val="0"/>
              </a:spcAft>
              <a:buClr>
                <a:srgbClr val="0065A4"/>
              </a:buClr>
              <a:buSzPts val="1440"/>
              <a:buFont typeface="Noto Sans Symbols"/>
              <a:buNone/>
            </a:pPr>
            <a:r>
              <a:rPr lang="en-IN" dirty="0">
                <a:solidFill>
                  <a:schemeClr val="dk1"/>
                </a:solidFill>
                <a:latin typeface="Times New Roman"/>
                <a:cs typeface="Times New Roman"/>
                <a:sym typeface="Times New Roman"/>
              </a:rPr>
              <a:t>(Assistant Professor)</a:t>
            </a:r>
            <a:endParaRPr dirty="0"/>
          </a:p>
          <a:p>
            <a:pPr marL="0" marR="0" lvl="0" indent="0" algn="l" rtl="0">
              <a:spcBef>
                <a:spcPts val="1000"/>
              </a:spcBef>
              <a:spcAft>
                <a:spcPts val="0"/>
              </a:spcAft>
              <a:buClr>
                <a:srgbClr val="0065A4"/>
              </a:buClr>
              <a:buSzPts val="1440"/>
              <a:buFont typeface="Noto Sans Symbols"/>
              <a:buNone/>
            </a:pPr>
            <a:r>
              <a:rPr lang="en-IN"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rgbClr val="3F3F3F"/>
              </a:solidFill>
              <a:latin typeface="Times New Roman"/>
              <a:ea typeface="Times New Roman"/>
              <a:cs typeface="Times New Roman"/>
              <a:sym typeface="Times New Roman"/>
            </a:endParaRPr>
          </a:p>
          <a:p>
            <a:pPr marL="0" marR="0" lvl="0" indent="0" algn="l" rtl="0">
              <a:spcBef>
                <a:spcPts val="1000"/>
              </a:spcBef>
              <a:spcAft>
                <a:spcPts val="0"/>
              </a:spcAft>
              <a:buClr>
                <a:srgbClr val="0065A4"/>
              </a:buClr>
              <a:buSzPts val="1440"/>
              <a:buFont typeface="Noto Sans Symbols"/>
              <a:buNone/>
            </a:pPr>
            <a:r>
              <a:rPr lang="en-IN" sz="1800" b="0" i="0" u="none" strike="noStrike" cap="none" dirty="0">
                <a:solidFill>
                  <a:srgbClr val="3F3F3F"/>
                </a:solidFill>
                <a:latin typeface="Times New Roman"/>
                <a:ea typeface="Times New Roman"/>
                <a:cs typeface="Times New Roman"/>
                <a:sym typeface="Times New Roman"/>
              </a:rPr>
              <a:t>	</a:t>
            </a:r>
            <a:endParaRPr dirty="0"/>
          </a:p>
        </p:txBody>
      </p:sp>
      <p:sp>
        <p:nvSpPr>
          <p:cNvPr id="2055" name="Google Shape;2055;p1"/>
          <p:cNvSpPr txBox="1"/>
          <p:nvPr/>
        </p:nvSpPr>
        <p:spPr>
          <a:xfrm>
            <a:off x="4572000" y="3963242"/>
            <a:ext cx="3672300" cy="1768800"/>
          </a:xfrm>
          <a:prstGeom prst="rect">
            <a:avLst/>
          </a:prstGeom>
          <a:noFill/>
          <a:ln>
            <a:noFill/>
          </a:ln>
        </p:spPr>
        <p:txBody>
          <a:bodyPr spcFirstLastPara="1" wrap="square" lIns="91425" tIns="45700" rIns="91425" bIns="45700" anchor="t" anchorCtr="0">
            <a:normAutofit fontScale="92500" lnSpcReduction="10000"/>
          </a:bodyPr>
          <a:lstStyle/>
          <a:p>
            <a:pPr marL="0" marR="0" lvl="0" indent="0" algn="l" rtl="0">
              <a:spcBef>
                <a:spcPts val="0"/>
              </a:spcBef>
              <a:spcAft>
                <a:spcPts val="0"/>
              </a:spcAft>
              <a:buClr>
                <a:srgbClr val="0065A4"/>
              </a:buClr>
              <a:buSzPts val="1440"/>
              <a:buFont typeface="Noto Sans Symbols"/>
              <a:buNone/>
            </a:pPr>
            <a:r>
              <a:rPr lang="en-IN" sz="1800" b="0" i="0" u="sng" strike="noStrike" cap="none" dirty="0">
                <a:solidFill>
                  <a:schemeClr val="dk1"/>
                </a:solidFill>
                <a:latin typeface="Times New Roman"/>
                <a:ea typeface="Times New Roman"/>
                <a:cs typeface="Times New Roman"/>
                <a:sym typeface="Times New Roman"/>
              </a:rPr>
              <a:t>NAME OF THE STUDENTS</a:t>
            </a:r>
            <a:endParaRPr dirty="0"/>
          </a:p>
          <a:p>
            <a:pPr marL="0" marR="0" lvl="0" indent="0" algn="l" rtl="0">
              <a:spcBef>
                <a:spcPts val="1000"/>
              </a:spcBef>
              <a:spcAft>
                <a:spcPts val="0"/>
              </a:spcAft>
              <a:buClr>
                <a:srgbClr val="0065A4"/>
              </a:buClr>
              <a:buSzPts val="1440"/>
              <a:buFont typeface="Noto Sans Symbols"/>
              <a:buNone/>
            </a:pPr>
            <a:r>
              <a:rPr lang="en-US" sz="1800" b="0" i="0" u="none" strike="noStrike" cap="none" dirty="0" err="1">
                <a:solidFill>
                  <a:srgbClr val="3F3F3F"/>
                </a:solidFill>
                <a:latin typeface="Times New Roman"/>
                <a:ea typeface="Times New Roman"/>
                <a:cs typeface="Times New Roman"/>
                <a:sym typeface="Times New Roman"/>
              </a:rPr>
              <a:t>M.Pranavi</a:t>
            </a:r>
            <a:r>
              <a:rPr lang="en-US" dirty="0">
                <a:solidFill>
                  <a:srgbClr val="3F3F3F"/>
                </a:solidFill>
                <a:latin typeface="Times New Roman"/>
                <a:ea typeface="Times New Roman"/>
                <a:cs typeface="Times New Roman"/>
                <a:sym typeface="Times New Roman"/>
              </a:rPr>
              <a:t>     (23R91A05H6) </a:t>
            </a:r>
          </a:p>
          <a:p>
            <a:pPr marL="0" marR="0" lvl="0" indent="0" algn="l" rtl="0">
              <a:spcBef>
                <a:spcPts val="1000"/>
              </a:spcBef>
              <a:spcAft>
                <a:spcPts val="0"/>
              </a:spcAft>
              <a:buClr>
                <a:srgbClr val="0065A4"/>
              </a:buClr>
              <a:buSzPts val="1440"/>
              <a:buFont typeface="Noto Sans Symbols"/>
              <a:buNone/>
            </a:pPr>
            <a:r>
              <a:rPr lang="en-US" dirty="0" err="1">
                <a:solidFill>
                  <a:srgbClr val="3F3F3F"/>
                </a:solidFill>
                <a:latin typeface="Times New Roman"/>
                <a:ea typeface="Times New Roman"/>
                <a:cs typeface="Times New Roman"/>
                <a:sym typeface="Times New Roman"/>
              </a:rPr>
              <a:t>K.Sri</a:t>
            </a:r>
            <a:r>
              <a:rPr lang="en-US" dirty="0">
                <a:solidFill>
                  <a:srgbClr val="3F3F3F"/>
                </a:solidFill>
                <a:latin typeface="Times New Roman"/>
                <a:ea typeface="Times New Roman"/>
                <a:cs typeface="Times New Roman"/>
                <a:sym typeface="Times New Roman"/>
              </a:rPr>
              <a:t> </a:t>
            </a:r>
            <a:r>
              <a:rPr lang="en-US" dirty="0" err="1">
                <a:solidFill>
                  <a:srgbClr val="3F3F3F"/>
                </a:solidFill>
                <a:latin typeface="Times New Roman"/>
                <a:ea typeface="Times New Roman"/>
                <a:cs typeface="Times New Roman"/>
                <a:sym typeface="Times New Roman"/>
              </a:rPr>
              <a:t>Nithya</a:t>
            </a:r>
            <a:r>
              <a:rPr lang="en-US" dirty="0">
                <a:solidFill>
                  <a:srgbClr val="3F3F3F"/>
                </a:solidFill>
                <a:latin typeface="Times New Roman"/>
                <a:ea typeface="Times New Roman"/>
                <a:cs typeface="Times New Roman"/>
                <a:sym typeface="Times New Roman"/>
              </a:rPr>
              <a:t>  (23R91A05G7)</a:t>
            </a:r>
          </a:p>
          <a:p>
            <a:pPr lvl="0">
              <a:spcBef>
                <a:spcPts val="1000"/>
              </a:spcBef>
              <a:buClr>
                <a:srgbClr val="0065A4"/>
              </a:buClr>
              <a:buSzPts val="1440"/>
            </a:pPr>
            <a:r>
              <a:rPr lang="en-US" dirty="0" err="1">
                <a:solidFill>
                  <a:srgbClr val="3F3F3F"/>
                </a:solidFill>
                <a:latin typeface="Times New Roman"/>
                <a:ea typeface="Times New Roman"/>
                <a:cs typeface="Times New Roman"/>
                <a:sym typeface="Times New Roman"/>
              </a:rPr>
              <a:t>K.Naresh</a:t>
            </a:r>
            <a:r>
              <a:rPr lang="en-US" dirty="0">
                <a:solidFill>
                  <a:srgbClr val="3F3F3F"/>
                </a:solidFill>
                <a:latin typeface="Times New Roman"/>
                <a:ea typeface="Times New Roman"/>
                <a:cs typeface="Times New Roman"/>
                <a:sym typeface="Times New Roman"/>
              </a:rPr>
              <a:t>       (23R91A05F3)</a:t>
            </a:r>
          </a:p>
          <a:p>
            <a:pPr lvl="0">
              <a:spcBef>
                <a:spcPts val="1000"/>
              </a:spcBef>
              <a:buClr>
                <a:srgbClr val="0065A4"/>
              </a:buClr>
              <a:buSzPts val="1440"/>
            </a:pPr>
            <a:r>
              <a:rPr lang="en-US" sz="1800" b="0" i="0" u="none" strike="noStrike" cap="none" dirty="0" err="1">
                <a:solidFill>
                  <a:srgbClr val="3F3F3F"/>
                </a:solidFill>
                <a:latin typeface="Times New Roman"/>
                <a:ea typeface="Times New Roman"/>
                <a:cs typeface="Times New Roman"/>
                <a:sym typeface="Times New Roman"/>
              </a:rPr>
              <a:t>M.Janaki</a:t>
            </a:r>
            <a:r>
              <a:rPr lang="en-US" dirty="0">
                <a:solidFill>
                  <a:srgbClr val="3F3F3F"/>
                </a:solidFill>
                <a:latin typeface="Times New Roman"/>
                <a:ea typeface="Times New Roman"/>
                <a:cs typeface="Times New Roman"/>
                <a:sym typeface="Times New Roman"/>
              </a:rPr>
              <a:t> </a:t>
            </a:r>
            <a:r>
              <a:rPr lang="en-US" sz="1800" b="0" i="0" u="none" strike="noStrike" cap="none" dirty="0">
                <a:solidFill>
                  <a:srgbClr val="3F3F3F"/>
                </a:solidFill>
                <a:latin typeface="Times New Roman"/>
                <a:ea typeface="Times New Roman"/>
                <a:cs typeface="Times New Roman"/>
                <a:sym typeface="Times New Roman"/>
              </a:rPr>
              <a:t>Ram (24R9</a:t>
            </a:r>
            <a:r>
              <a:rPr lang="en-US" dirty="0">
                <a:solidFill>
                  <a:srgbClr val="3F3F3F"/>
                </a:solidFill>
                <a:latin typeface="Times New Roman"/>
                <a:ea typeface="Times New Roman"/>
                <a:cs typeface="Times New Roman"/>
                <a:sym typeface="Times New Roman"/>
              </a:rPr>
              <a:t>5A0519</a:t>
            </a:r>
            <a:r>
              <a:rPr lang="en-US" sz="1800" b="0" i="0" u="none" strike="noStrike" cap="none" dirty="0">
                <a:solidFill>
                  <a:srgbClr val="3F3F3F"/>
                </a:solidFill>
                <a:latin typeface="Times New Roman"/>
                <a:ea typeface="Times New Roman"/>
                <a:cs typeface="Times New Roman"/>
                <a:sym typeface="Times New Roman"/>
              </a:rPr>
              <a:t>)</a:t>
            </a:r>
            <a:endParaRPr sz="1800" b="0" i="0" u="none" strike="noStrike" cap="none" dirty="0">
              <a:solidFill>
                <a:srgbClr val="3F3F3F"/>
              </a:solidFill>
              <a:latin typeface="Times New Roman"/>
              <a:ea typeface="Times New Roman"/>
              <a:cs typeface="Times New Roman"/>
              <a:sym typeface="Times New Roman"/>
            </a:endParaRPr>
          </a:p>
        </p:txBody>
      </p:sp>
      <p:sp>
        <p:nvSpPr>
          <p:cNvPr id="2056" name="Google Shape;2056;p1"/>
          <p:cNvSpPr txBox="1"/>
          <p:nvPr/>
        </p:nvSpPr>
        <p:spPr>
          <a:xfrm>
            <a:off x="1187624" y="1808795"/>
            <a:ext cx="7488900" cy="120028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Times New Roman"/>
                <a:ea typeface="Times New Roman"/>
                <a:cs typeface="Times New Roman"/>
                <a:sym typeface="Times New Roman"/>
              </a:rPr>
              <a:t>Financial Fraud Detection Using Value At Risk With Machine Learning</a:t>
            </a:r>
            <a:endParaRPr sz="360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57"/>
        <p:cNvGrpSpPr/>
        <p:nvPr/>
      </p:nvGrpSpPr>
      <p:grpSpPr>
        <a:xfrm>
          <a:off x="0" y="0"/>
          <a:ext cx="0" cy="0"/>
          <a:chOff x="0" y="0"/>
          <a:chExt cx="0" cy="0"/>
        </a:xfrm>
      </p:grpSpPr>
      <p:sp>
        <p:nvSpPr>
          <p:cNvPr id="2058" name="Google Shape;2058;p2"/>
          <p:cNvSpPr txBox="1">
            <a:spLocks noGrp="1"/>
          </p:cNvSpPr>
          <p:nvPr>
            <p:ph type="title"/>
          </p:nvPr>
        </p:nvSpPr>
        <p:spPr>
          <a:xfrm>
            <a:off x="-733346" y="181154"/>
            <a:ext cx="7520400" cy="102654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Clr>
                <a:srgbClr val="262626"/>
              </a:buClr>
              <a:buSzPts val="3600"/>
              <a:buFont typeface="Times New Roman"/>
              <a:buNone/>
            </a:pPr>
            <a:r>
              <a:rPr lang="en-IN" sz="3600" dirty="0">
                <a:latin typeface="Times New Roman"/>
                <a:ea typeface="Times New Roman"/>
                <a:cs typeface="Times New Roman"/>
                <a:sym typeface="Times New Roman"/>
              </a:rPr>
              <a:t>CONTENTS</a:t>
            </a:r>
            <a:endParaRPr sz="3600" dirty="0">
              <a:latin typeface="Times New Roman"/>
              <a:ea typeface="Times New Roman"/>
              <a:cs typeface="Times New Roman"/>
              <a:sym typeface="Times New Roman"/>
            </a:endParaRPr>
          </a:p>
        </p:txBody>
      </p:sp>
      <p:sp>
        <p:nvSpPr>
          <p:cNvPr id="2059" name="Google Shape;2059;p2"/>
          <p:cNvSpPr txBox="1">
            <a:spLocks noGrp="1"/>
          </p:cNvSpPr>
          <p:nvPr>
            <p:ph type="body" idx="2"/>
          </p:nvPr>
        </p:nvSpPr>
        <p:spPr>
          <a:xfrm>
            <a:off x="1855219" y="1354347"/>
            <a:ext cx="7488900" cy="417518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2400"/>
              <a:buFont typeface="Noto Sans Symbols"/>
              <a:buChar char="⮚"/>
            </a:pPr>
            <a:r>
              <a:rPr lang="en-US" sz="2400" dirty="0">
                <a:solidFill>
                  <a:schemeClr val="dk1"/>
                </a:solidFill>
                <a:latin typeface="Times New Roman"/>
                <a:cs typeface="Times New Roman"/>
                <a:sym typeface="Times New Roman"/>
              </a:rPr>
              <a:t>ABSTRACT </a:t>
            </a:r>
          </a:p>
          <a:p>
            <a:pPr marL="285750" lvl="0" indent="-285750" algn="l" rtl="0">
              <a:spcBef>
                <a:spcPts val="0"/>
              </a:spcBef>
              <a:spcAft>
                <a:spcPts val="0"/>
              </a:spcAft>
              <a:buSzPts val="2400"/>
              <a:buFont typeface="Noto Sans Symbols"/>
              <a:buChar char="⮚"/>
            </a:pPr>
            <a:r>
              <a:rPr lang="en-US" sz="2400" dirty="0">
                <a:solidFill>
                  <a:schemeClr val="dk1"/>
                </a:solidFill>
                <a:latin typeface="Times New Roman"/>
                <a:cs typeface="Times New Roman"/>
                <a:sym typeface="Times New Roman"/>
              </a:rPr>
              <a:t>EXISTING SYSTEM </a:t>
            </a:r>
            <a:endParaRPr sz="2400" dirty="0"/>
          </a:p>
          <a:p>
            <a:pPr marL="285750" lvl="0" indent="-285750" algn="l" rtl="0">
              <a:spcBef>
                <a:spcPts val="1000"/>
              </a:spcBef>
              <a:spcAft>
                <a:spcPts val="0"/>
              </a:spcAft>
              <a:buSzPts val="2400"/>
              <a:buFont typeface="Noto Sans Symbols"/>
              <a:buChar char="⮚"/>
            </a:pPr>
            <a:r>
              <a:rPr lang="en-IN" sz="2400" dirty="0">
                <a:solidFill>
                  <a:schemeClr val="dk1"/>
                </a:solidFill>
                <a:latin typeface="Times New Roman"/>
                <a:ea typeface="Times New Roman"/>
                <a:cs typeface="Times New Roman"/>
                <a:sym typeface="Times New Roman"/>
              </a:rPr>
              <a:t>PROPOSED SYSTEM</a:t>
            </a:r>
            <a:r>
              <a:rPr lang="en-US" sz="2400" dirty="0">
                <a:solidFill>
                  <a:schemeClr val="dk1"/>
                </a:solidFill>
                <a:latin typeface="Times New Roman"/>
                <a:ea typeface="Times New Roman"/>
                <a:cs typeface="Times New Roman"/>
                <a:sym typeface="Times New Roman"/>
              </a:rPr>
              <a:t> </a:t>
            </a:r>
          </a:p>
          <a:p>
            <a:pPr marL="285750" lvl="0" indent="-285750" algn="l" rtl="0">
              <a:spcBef>
                <a:spcPts val="1000"/>
              </a:spcBef>
              <a:spcAft>
                <a:spcPts val="0"/>
              </a:spcAft>
              <a:buSzPts val="2400"/>
              <a:buFont typeface="Noto Sans Symbols"/>
              <a:buChar char="⮚"/>
            </a:pPr>
            <a:r>
              <a:rPr lang="en-US" sz="2400" dirty="0">
                <a:solidFill>
                  <a:schemeClr val="dk1"/>
                </a:solidFill>
                <a:latin typeface="Times New Roman"/>
                <a:ea typeface="Times New Roman"/>
                <a:cs typeface="Times New Roman"/>
                <a:sym typeface="Times New Roman"/>
              </a:rPr>
              <a:t>SYSTEM REQUIREMENTS</a:t>
            </a:r>
          </a:p>
          <a:p>
            <a:pPr marL="285750" lvl="0" indent="-285750" algn="l" rtl="0">
              <a:spcBef>
                <a:spcPts val="1000"/>
              </a:spcBef>
              <a:spcAft>
                <a:spcPts val="0"/>
              </a:spcAft>
              <a:buSzPts val="2400"/>
              <a:buFont typeface="Noto Sans Symbols"/>
              <a:buChar char="⮚"/>
            </a:pPr>
            <a:r>
              <a:rPr lang="en-US" sz="2400" dirty="0">
                <a:solidFill>
                  <a:schemeClr val="dk1"/>
                </a:solidFill>
                <a:latin typeface="Times New Roman"/>
                <a:ea typeface="Times New Roman"/>
                <a:cs typeface="Times New Roman"/>
                <a:sym typeface="Times New Roman"/>
              </a:rPr>
              <a:t>SYSTEM ARCHITECTURE</a:t>
            </a:r>
          </a:p>
          <a:p>
            <a:pPr marL="285750" lvl="0" indent="-285750" algn="l" rtl="0">
              <a:spcBef>
                <a:spcPts val="1000"/>
              </a:spcBef>
              <a:spcAft>
                <a:spcPts val="0"/>
              </a:spcAft>
              <a:buSzPts val="2400"/>
              <a:buFont typeface="Noto Sans Symbols"/>
              <a:buChar char="⮚"/>
            </a:pPr>
            <a:r>
              <a:rPr lang="en-US" sz="2400" dirty="0">
                <a:solidFill>
                  <a:schemeClr val="dk1"/>
                </a:solidFill>
                <a:latin typeface="Times New Roman"/>
                <a:ea typeface="Times New Roman"/>
                <a:cs typeface="Times New Roman"/>
                <a:sym typeface="Times New Roman"/>
              </a:rPr>
              <a:t>REFERENCES </a:t>
            </a:r>
            <a:endParaRPr lang="en-IN" sz="2400" dirty="0">
              <a:solidFill>
                <a:schemeClr val="dk1"/>
              </a:solidFill>
              <a:latin typeface="Times New Roman"/>
              <a:ea typeface="Times New Roman"/>
              <a:cs typeface="Times New Roman"/>
              <a:sym typeface="Times New Roman"/>
            </a:endParaRPr>
          </a:p>
          <a:p>
            <a:pPr lvl="0" algn="l" rtl="0">
              <a:spcBef>
                <a:spcPts val="1000"/>
              </a:spcBef>
              <a:spcAft>
                <a:spcPts val="0"/>
              </a:spcAft>
              <a:buSzPts val="2400"/>
            </a:pPr>
            <a:r>
              <a:rPr lang="en-US" sz="2400" dirty="0">
                <a:solidFill>
                  <a:schemeClr val="dk1"/>
                </a:solidFill>
                <a:latin typeface="Times New Roman"/>
                <a:ea typeface="Times New Roman"/>
                <a:cs typeface="Times New Roman"/>
                <a:sym typeface="Times New Roman"/>
              </a:rPr>
              <a:t> </a:t>
            </a:r>
            <a:endParaRPr lang="en-IN" sz="2400" dirty="0">
              <a:solidFill>
                <a:schemeClr val="dk1"/>
              </a:solidFill>
              <a:latin typeface="Times New Roman"/>
              <a:ea typeface="Times New Roman"/>
              <a:cs typeface="Times New Roman"/>
              <a:sym typeface="Times New Roman"/>
            </a:endParaRPr>
          </a:p>
          <a:p>
            <a:pPr lvl="0" algn="l" rtl="0">
              <a:spcBef>
                <a:spcPts val="1000"/>
              </a:spcBef>
              <a:spcAft>
                <a:spcPts val="0"/>
              </a:spcAft>
              <a:buSzPts val="2400"/>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4566" y="0"/>
            <a:ext cx="5792748" cy="2071936"/>
          </a:xfrm>
        </p:spPr>
        <p:txBody>
          <a:bodyPr>
            <a:normAutofit/>
          </a:bodyPr>
          <a:lstStyle/>
          <a:p>
            <a:r>
              <a:rPr lang="en-US" sz="3600" dirty="0">
                <a:latin typeface="Times New Roman" panose="02020603050405020304" pitchFamily="18" charset="0"/>
                <a:cs typeface="Times New Roman" panose="02020603050405020304" pitchFamily="18" charset="0"/>
              </a:rPr>
              <a:t>ABSTRACT</a:t>
            </a:r>
            <a:endParaRPr lang="en-IN" sz="36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547663" y="577971"/>
            <a:ext cx="7200801" cy="5803358"/>
          </a:xfrm>
        </p:spPr>
        <p:txBody>
          <a:bodyPr>
            <a:normAutofit/>
          </a:bodyPr>
          <a:lstStyle/>
          <a:p>
            <a:pPr algn="just">
              <a:lnSpc>
                <a:spcPct val="150000"/>
              </a:lnSpc>
            </a:pPr>
            <a:r>
              <a:rPr lang="en-US" sz="1600" dirty="0">
                <a:latin typeface="Times New Roman" panose="02020603050405020304" pitchFamily="18" charset="0"/>
                <a:cs typeface="Times New Roman" panose="02020603050405020304" pitchFamily="18" charset="0"/>
              </a:rPr>
              <a:t>Financial fraud is a major challenge in banks and digital payment systems due to the rapid growth of online transactions. Fraudulent activities cause financial losses and reduce customer trust. This project presents a Financial Fraud Detection System using Value-at-Risk (</a:t>
            </a:r>
            <a:r>
              <a:rPr lang="en-US" sz="1600" dirty="0" err="1">
                <a:latin typeface="Times New Roman" panose="02020603050405020304" pitchFamily="18" charset="0"/>
                <a:cs typeface="Times New Roman" panose="02020603050405020304" pitchFamily="18" charset="0"/>
              </a:rPr>
              <a:t>VaR</a:t>
            </a:r>
            <a:r>
              <a:rPr lang="en-US" sz="1600" dirty="0">
                <a:latin typeface="Times New Roman" panose="02020603050405020304" pitchFamily="18" charset="0"/>
                <a:cs typeface="Times New Roman" panose="02020603050405020304" pitchFamily="18" charset="0"/>
              </a:rPr>
              <a:t>) with Machine Learning. The </a:t>
            </a:r>
            <a:r>
              <a:rPr lang="en-US" sz="1600" dirty="0" err="1">
                <a:latin typeface="Times New Roman" panose="02020603050405020304" pitchFamily="18" charset="0"/>
                <a:cs typeface="Times New Roman" panose="02020603050405020304" pitchFamily="18" charset="0"/>
              </a:rPr>
              <a:t>VaR</a:t>
            </a:r>
            <a:r>
              <a:rPr lang="en-US" sz="1600" dirty="0">
                <a:latin typeface="Times New Roman" panose="02020603050405020304" pitchFamily="18" charset="0"/>
                <a:cs typeface="Times New Roman" panose="02020603050405020304" pitchFamily="18" charset="0"/>
              </a:rPr>
              <a:t> method estimates the financial risk of each transaction, while machine learning algorithms classify transactions as genuine or fraudulent. Data preprocessing and feature selection improve prediction accuracy. The proposed system reduces false alarms, detects suspicious activities in real time, and supports better risk management. It provides a secure, scalable, and efficient solution for protecting financial transactions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8906" y="44624"/>
            <a:ext cx="6730448" cy="1292470"/>
          </a:xfrm>
        </p:spPr>
        <p:txBody>
          <a:bodyPr>
            <a:normAutofit/>
          </a:bodyPr>
          <a:lstStyle/>
          <a:p>
            <a:r>
              <a:rPr lang="en-US" sz="3600" dirty="0">
                <a:latin typeface="Times New Roman" panose="02020603050405020304" pitchFamily="18" charset="0"/>
                <a:cs typeface="Times New Roman" panose="02020603050405020304" pitchFamily="18" charset="0"/>
              </a:rPr>
              <a:t>EXISTING SYSTEM</a:t>
            </a:r>
            <a:endParaRPr lang="en-IN" sz="32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387007" y="785005"/>
            <a:ext cx="7593091" cy="6185138"/>
          </a:xfrm>
        </p:spPr>
        <p:txBody>
          <a:bodyPr>
            <a:normAutofit/>
          </a:bodyPr>
          <a:lstStyle/>
          <a:p>
            <a:pPr algn="just">
              <a:lnSpc>
                <a:spcPct val="150000"/>
              </a:lnSpc>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Existing</a:t>
            </a: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fraud detection systems mainly rely on rule-based techniques, manual monitoring, and historical transaction analysis. These systems use predefined rules to identify suspicious transactions but are unable to detect new and evolving fraud patterns effectively.</a:t>
            </a:r>
          </a:p>
          <a:p>
            <a:pPr algn="just">
              <a:lnSpc>
                <a:spcPct val="150000"/>
              </a:lnSpc>
            </a:pPr>
            <a:r>
              <a:rPr lang="en-US" b="1" dirty="0">
                <a:latin typeface="Times New Roman" panose="02020603050405020304" pitchFamily="18" charset="0"/>
                <a:ea typeface="Times New Roman" panose="02020603050405020304" pitchFamily="18" charset="0"/>
                <a:cs typeface="Times New Roman" panose="02020603050405020304" pitchFamily="18" charset="0"/>
              </a:rPr>
              <a:t>Drawbacks or Limitations:</a:t>
            </a:r>
          </a:p>
          <a:p>
            <a:pPr algn="just">
              <a:lnSpc>
                <a:spcPct val="150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Depends on fixed rules and manual monitoring.</a:t>
            </a:r>
          </a:p>
          <a:p>
            <a:pPr algn="just">
              <a:lnSpc>
                <a:spcPct val="150000"/>
              </a:lnSpc>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Cannot detect new or unknown fraud patterns.</a:t>
            </a:r>
          </a:p>
          <a:p>
            <a:pPr algn="just">
              <a:lnSpc>
                <a:spcPct val="150000"/>
              </a:lnSpc>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High false positive and false negative rates.</a:t>
            </a:r>
          </a:p>
          <a:p>
            <a:pPr algn="just">
              <a:lnSpc>
                <a:spcPct val="150000"/>
              </a:lnSpc>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Slow processing for large volumes of transactions.</a:t>
            </a:r>
          </a:p>
          <a:p>
            <a:pPr algn="just">
              <a:lnSpc>
                <a:spcPct val="150000"/>
              </a:lnSpc>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Less accurate for real-time fraud detection.</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797" y="0"/>
            <a:ext cx="6357004" cy="1296144"/>
          </a:xfrm>
        </p:spPr>
        <p:txBody>
          <a:bodyPr>
            <a:normAutofit/>
          </a:bodyPr>
          <a:lstStyle/>
          <a:p>
            <a:r>
              <a:rPr lang="en-US" sz="3600" dirty="0">
                <a:latin typeface="Times New Roman" panose="02020603050405020304" pitchFamily="18" charset="0"/>
                <a:cs typeface="Times New Roman" panose="02020603050405020304" pitchFamily="18" charset="0"/>
              </a:rPr>
              <a:t>PROPOSED SYSTEM</a:t>
            </a:r>
            <a:endParaRPr lang="en-IN" sz="36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155939" y="1768415"/>
            <a:ext cx="7504982" cy="4157931"/>
          </a:xfrm>
        </p:spPr>
        <p:txBody>
          <a:bodyPr>
            <a:noAutofit/>
          </a:bodyPr>
          <a:lstStyle/>
          <a:p>
            <a:pPr marL="285750" indent="-285750" algn="just">
              <a:lnSpc>
                <a:spcPct val="150000"/>
              </a:lnSpc>
              <a:spcAft>
                <a:spcPts val="800"/>
              </a:spcAft>
              <a:tabLst>
                <a:tab pos="457200" algn="l"/>
              </a:tabLst>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To provide an intelligent and accurate fraud detection solution. </a:t>
            </a:r>
            <a:r>
              <a:rPr lang="en-US" sz="1600" dirty="0" err="1">
                <a:latin typeface="Times New Roman" panose="02020603050405020304" pitchFamily="18" charset="0"/>
                <a:ea typeface="Times New Roman" panose="02020603050405020304" pitchFamily="18" charset="0"/>
                <a:cs typeface="Times New Roman" panose="02020603050405020304" pitchFamily="18" charset="0"/>
              </a:rPr>
              <a:t>VaR</a:t>
            </a:r>
            <a:r>
              <a:rPr lang="en-US" sz="1600" dirty="0">
                <a:latin typeface="Times New Roman" panose="02020603050405020304" pitchFamily="18" charset="0"/>
                <a:ea typeface="Times New Roman" panose="02020603050405020304" pitchFamily="18" charset="0"/>
                <a:cs typeface="Times New Roman" panose="02020603050405020304" pitchFamily="18" charset="0"/>
              </a:rPr>
              <a:t> estimates the financial risk of each transaction, while machine learning models analyze transaction patterns and classify them as genuine or fraudulent. By using data preprocessing and feature selection, the system improves detection accuracy, reduces false alarms, and enables real-time monitoring of financial transactions.</a:t>
            </a:r>
          </a:p>
          <a:p>
            <a:pPr marL="285750" indent="-285750" algn="just">
              <a:lnSpc>
                <a:spcPct val="150000"/>
              </a:lnSpc>
              <a:spcAft>
                <a:spcPts val="800"/>
              </a:spcAft>
              <a:tabLst>
                <a:tab pos="457200" algn="l"/>
              </a:tabLst>
            </a:pPr>
            <a:r>
              <a:rPr lang="en-US" sz="1600" b="1" dirty="0">
                <a:latin typeface="Times New Roman" panose="02020603050405020304" pitchFamily="18" charset="0"/>
                <a:ea typeface="Times New Roman" panose="02020603050405020304" pitchFamily="18" charset="0"/>
                <a:cs typeface="Times New Roman" panose="02020603050405020304" pitchFamily="18" charset="0"/>
              </a:rPr>
              <a:t>     </a:t>
            </a:r>
            <a:r>
              <a:rPr lang="en-US" b="1" dirty="0">
                <a:latin typeface="Times New Roman" panose="02020603050405020304" pitchFamily="18" charset="0"/>
                <a:ea typeface="Times New Roman" panose="02020603050405020304" pitchFamily="18" charset="0"/>
                <a:cs typeface="Times New Roman" panose="02020603050405020304" pitchFamily="18" charset="0"/>
              </a:rPr>
              <a:t>ADVANTAGES</a:t>
            </a:r>
          </a:p>
          <a:p>
            <a:pPr marL="285750" indent="-285750" algn="just">
              <a:lnSpc>
                <a:spcPct val="150000"/>
              </a:lnSpc>
              <a:spcAft>
                <a:spcPts val="800"/>
              </a:spcAft>
              <a:tabLst>
                <a:tab pos="4572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Detects fraudulent transactions in real time.</a:t>
            </a:r>
          </a:p>
          <a:p>
            <a:pPr marL="285750" indent="-285750" algn="just">
              <a:lnSpc>
                <a:spcPct val="150000"/>
              </a:lnSpc>
              <a:spcAft>
                <a:spcPts val="800"/>
              </a:spcAft>
              <a:tabLst>
                <a:tab pos="4572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Improves accuracy using machine learning algorithms.</a:t>
            </a:r>
          </a:p>
          <a:p>
            <a:pPr marL="285750" indent="-285750" algn="just">
              <a:lnSpc>
                <a:spcPct val="150000"/>
              </a:lnSpc>
              <a:spcAft>
                <a:spcPts val="800"/>
              </a:spcAft>
              <a:tabLst>
                <a:tab pos="4572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Reduces false alarms and financial losses.</a:t>
            </a:r>
          </a:p>
          <a:p>
            <a:pPr marL="285750" indent="-285750" algn="just">
              <a:lnSpc>
                <a:spcPct val="150000"/>
              </a:lnSpc>
              <a:spcAft>
                <a:spcPts val="800"/>
              </a:spcAft>
              <a:tabLst>
                <a:tab pos="4572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Enhances financial risk management.</a:t>
            </a:r>
          </a:p>
          <a:p>
            <a:pPr marL="285750" indent="-285750" algn="just">
              <a:lnSpc>
                <a:spcPct val="150000"/>
              </a:lnSpc>
              <a:spcAft>
                <a:spcPts val="800"/>
              </a:spcAft>
              <a:tabLst>
                <a:tab pos="457200" algn="l"/>
              </a:tabLst>
            </a:pPr>
            <a:r>
              <a:rPr lang="en-US" sz="1600" dirty="0">
                <a:latin typeface="Times New Roman" panose="02020603050405020304" pitchFamily="18" charset="0"/>
                <a:ea typeface="Times New Roman" panose="02020603050405020304" pitchFamily="18" charset="0"/>
                <a:cs typeface="Times New Roman" panose="02020603050405020304" pitchFamily="18" charset="0"/>
              </a:rPr>
              <a:t>➤ Increases customer trust and transaction security.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8AC09-A80C-8388-9033-F1266095BCDB}"/>
              </a:ext>
            </a:extLst>
          </p:cNvPr>
          <p:cNvSpPr>
            <a:spLocks noGrp="1"/>
          </p:cNvSpPr>
          <p:nvPr>
            <p:ph type="title"/>
          </p:nvPr>
        </p:nvSpPr>
        <p:spPr>
          <a:xfrm>
            <a:off x="715993" y="-491706"/>
            <a:ext cx="7818408" cy="2122098"/>
          </a:xfrm>
        </p:spPr>
        <p:txBody>
          <a:bodyPr>
            <a:normAutofit/>
          </a:bodyPr>
          <a:lstStyle/>
          <a:p>
            <a:r>
              <a:rPr lang="en-US" sz="3600" dirty="0">
                <a:latin typeface="Times New Roman" panose="02020603050405020304" pitchFamily="18" charset="0"/>
                <a:cs typeface="Times New Roman" panose="02020603050405020304" pitchFamily="18" charset="0"/>
              </a:rPr>
              <a:t> SYSTEM REQUIREMENTS</a:t>
            </a: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D05FC64C-B951-8E2C-4C58-EB5E68CD468F}"/>
              </a:ext>
            </a:extLst>
          </p:cNvPr>
          <p:cNvSpPr>
            <a:spLocks noGrp="1"/>
          </p:cNvSpPr>
          <p:nvPr>
            <p:ph type="body" idx="1"/>
          </p:nvPr>
        </p:nvSpPr>
        <p:spPr>
          <a:xfrm>
            <a:off x="1406107" y="1147313"/>
            <a:ext cx="7128294" cy="5710687"/>
          </a:xfrm>
        </p:spPr>
        <p:txBody>
          <a:bodyPr>
            <a:noAutofit/>
          </a:bodyPr>
          <a:lstStyle/>
          <a:p>
            <a:r>
              <a:rPr lang="en-IN" b="1" dirty="0">
                <a:solidFill>
                  <a:srgbClr val="FF0000"/>
                </a:solidFill>
                <a:latin typeface="Times New Roman" panose="02020603050405020304" pitchFamily="18" charset="0"/>
                <a:cs typeface="Times New Roman" panose="02020603050405020304" pitchFamily="18" charset="0"/>
              </a:rPr>
              <a:t>Hardware Requirements:</a:t>
            </a:r>
          </a:p>
          <a:p>
            <a:r>
              <a:rPr lang="en-IN" sz="1600" b="1" dirty="0">
                <a:latin typeface="Times New Roman" panose="02020603050405020304" pitchFamily="18" charset="0"/>
                <a:cs typeface="Times New Roman" panose="02020603050405020304" pitchFamily="18" charset="0"/>
              </a:rPr>
              <a:t>Processor:</a:t>
            </a:r>
            <a:r>
              <a:rPr lang="en-IN" sz="1600" dirty="0">
                <a:latin typeface="Times New Roman" panose="02020603050405020304" pitchFamily="18" charset="0"/>
                <a:cs typeface="Times New Roman" panose="02020603050405020304" pitchFamily="18" charset="0"/>
              </a:rPr>
              <a:t> Intel Core i3 / AMD </a:t>
            </a:r>
            <a:r>
              <a:rPr lang="en-IN" sz="1600" dirty="0" err="1">
                <a:latin typeface="Times New Roman" panose="02020603050405020304" pitchFamily="18" charset="0"/>
                <a:cs typeface="Times New Roman" panose="02020603050405020304" pitchFamily="18" charset="0"/>
              </a:rPr>
              <a:t>Ryzen</a:t>
            </a:r>
            <a:r>
              <a:rPr lang="en-IN" sz="1600" dirty="0">
                <a:latin typeface="Times New Roman" panose="02020603050405020304" pitchFamily="18" charset="0"/>
                <a:cs typeface="Times New Roman" panose="02020603050405020304" pitchFamily="18" charset="0"/>
              </a:rPr>
              <a:t> 3 or above</a:t>
            </a:r>
          </a:p>
          <a:p>
            <a:r>
              <a:rPr lang="en-IN" sz="1600" b="1" dirty="0">
                <a:latin typeface="Times New Roman" panose="02020603050405020304" pitchFamily="18" charset="0"/>
                <a:cs typeface="Times New Roman" panose="02020603050405020304" pitchFamily="18" charset="0"/>
              </a:rPr>
              <a:t>RAM:</a:t>
            </a:r>
            <a:r>
              <a:rPr lang="en-IN" sz="1600" dirty="0">
                <a:latin typeface="Times New Roman" panose="02020603050405020304" pitchFamily="18" charset="0"/>
                <a:cs typeface="Times New Roman" panose="02020603050405020304" pitchFamily="18" charset="0"/>
              </a:rPr>
              <a:t> 4 GB minimum (8 GB recommended)</a:t>
            </a:r>
          </a:p>
          <a:p>
            <a:r>
              <a:rPr lang="en-IN" sz="1600" b="1" dirty="0">
                <a:latin typeface="Times New Roman" panose="02020603050405020304" pitchFamily="18" charset="0"/>
                <a:cs typeface="Times New Roman" panose="02020603050405020304" pitchFamily="18" charset="0"/>
              </a:rPr>
              <a:t>Hard Disk:</a:t>
            </a:r>
            <a:r>
              <a:rPr lang="en-IN" sz="1600" dirty="0">
                <a:latin typeface="Times New Roman" panose="02020603050405020304" pitchFamily="18" charset="0"/>
                <a:cs typeface="Times New Roman" panose="02020603050405020304" pitchFamily="18" charset="0"/>
              </a:rPr>
              <a:t> 20 GB free space</a:t>
            </a:r>
          </a:p>
          <a:p>
            <a:r>
              <a:rPr lang="en-IN" sz="1600" b="1" dirty="0">
                <a:latin typeface="Times New Roman" panose="02020603050405020304" pitchFamily="18" charset="0"/>
                <a:cs typeface="Times New Roman" panose="02020603050405020304" pitchFamily="18" charset="0"/>
              </a:rPr>
              <a:t>Monitor: </a:t>
            </a:r>
            <a:r>
              <a:rPr lang="en-IN" sz="1600" dirty="0">
                <a:latin typeface="Times New Roman" panose="02020603050405020304" pitchFamily="18" charset="0"/>
                <a:cs typeface="Times New Roman" panose="02020603050405020304" pitchFamily="18" charset="0"/>
              </a:rPr>
              <a:t>1366 × 768 resolution or higher</a:t>
            </a:r>
          </a:p>
          <a:p>
            <a:r>
              <a:rPr lang="en-IN" sz="1600" b="1" dirty="0">
                <a:latin typeface="Times New Roman" panose="02020603050405020304" pitchFamily="18" charset="0"/>
                <a:cs typeface="Times New Roman" panose="02020603050405020304" pitchFamily="18" charset="0"/>
              </a:rPr>
              <a:t>Internet Connection: </a:t>
            </a:r>
            <a:r>
              <a:rPr lang="en-IN" sz="1600" dirty="0">
                <a:latin typeface="Times New Roman" panose="02020603050405020304" pitchFamily="18" charset="0"/>
                <a:cs typeface="Times New Roman" panose="02020603050405020304" pitchFamily="18" charset="0"/>
              </a:rPr>
              <a:t>Required for downloading datasets and updates</a:t>
            </a:r>
          </a:p>
          <a:p>
            <a:r>
              <a:rPr lang="en-IN" b="1" dirty="0">
                <a:solidFill>
                  <a:srgbClr val="FF0000"/>
                </a:solidFill>
                <a:latin typeface="Times New Roman" panose="02020603050405020304" pitchFamily="18" charset="0"/>
                <a:cs typeface="Times New Roman" panose="02020603050405020304" pitchFamily="18" charset="0"/>
              </a:rPr>
              <a:t>Software Requirements:</a:t>
            </a:r>
            <a:endParaRPr lang="en-IN" b="1" dirty="0">
              <a:latin typeface="Times New Roman" panose="02020603050405020304" pitchFamily="18" charset="0"/>
              <a:cs typeface="Times New Roman" panose="02020603050405020304" pitchFamily="18" charset="0"/>
            </a:endParaRPr>
          </a:p>
          <a:p>
            <a:r>
              <a:rPr lang="en-IN" sz="1600" b="1" dirty="0">
                <a:latin typeface="Times New Roman" panose="02020603050405020304" pitchFamily="18" charset="0"/>
                <a:cs typeface="Times New Roman" panose="02020603050405020304" pitchFamily="18" charset="0"/>
              </a:rPr>
              <a:t>Operating System: </a:t>
            </a:r>
            <a:r>
              <a:rPr lang="en-IN" sz="1600" dirty="0">
                <a:latin typeface="Times New Roman" panose="02020603050405020304" pitchFamily="18" charset="0"/>
                <a:cs typeface="Times New Roman" panose="02020603050405020304" pitchFamily="18" charset="0"/>
              </a:rPr>
              <a:t>Windows 10/11 or Linux</a:t>
            </a:r>
          </a:p>
          <a:p>
            <a:r>
              <a:rPr lang="en-IN" sz="1600" b="1" dirty="0">
                <a:latin typeface="Times New Roman" panose="02020603050405020304" pitchFamily="18" charset="0"/>
                <a:cs typeface="Times New Roman" panose="02020603050405020304" pitchFamily="18" charset="0"/>
              </a:rPr>
              <a:t>Programming Language: </a:t>
            </a:r>
            <a:r>
              <a:rPr lang="en-IN" sz="1600" dirty="0">
                <a:latin typeface="Times New Roman" panose="02020603050405020304" pitchFamily="18" charset="0"/>
                <a:cs typeface="Times New Roman" panose="02020603050405020304" pitchFamily="18" charset="0"/>
              </a:rPr>
              <a:t>Python 3.10+</a:t>
            </a:r>
          </a:p>
          <a:p>
            <a:r>
              <a:rPr lang="en-IN" sz="1600" b="1" dirty="0">
                <a:latin typeface="Times New Roman" panose="02020603050405020304" pitchFamily="18" charset="0"/>
                <a:cs typeface="Times New Roman" panose="02020603050405020304" pitchFamily="18" charset="0"/>
              </a:rPr>
              <a:t>IDE: </a:t>
            </a:r>
            <a:r>
              <a:rPr lang="en-IN" sz="1600" dirty="0">
                <a:latin typeface="Times New Roman" panose="02020603050405020304" pitchFamily="18" charset="0"/>
                <a:cs typeface="Times New Roman" panose="02020603050405020304" pitchFamily="18" charset="0"/>
              </a:rPr>
              <a:t>PyCharm / Visual Studio Code</a:t>
            </a:r>
          </a:p>
          <a:p>
            <a:r>
              <a:rPr lang="en-IN" sz="1600" b="1" dirty="0">
                <a:latin typeface="Times New Roman" panose="02020603050405020304" pitchFamily="18" charset="0"/>
                <a:cs typeface="Times New Roman" panose="02020603050405020304" pitchFamily="18" charset="0"/>
              </a:rPr>
              <a:t>Database: </a:t>
            </a:r>
            <a:r>
              <a:rPr lang="en-IN" sz="1600" dirty="0">
                <a:latin typeface="Times New Roman" panose="02020603050405020304" pitchFamily="18" charset="0"/>
                <a:cs typeface="Times New Roman" panose="02020603050405020304" pitchFamily="18" charset="0"/>
              </a:rPr>
              <a:t>MySQL</a:t>
            </a:r>
          </a:p>
          <a:p>
            <a:r>
              <a:rPr lang="en-IN" sz="1600" b="1" dirty="0">
                <a:latin typeface="Times New Roman" panose="02020603050405020304" pitchFamily="18" charset="0"/>
                <a:cs typeface="Times New Roman" panose="02020603050405020304" pitchFamily="18" charset="0"/>
              </a:rPr>
              <a:t>Machine Learning Libraries:</a:t>
            </a:r>
          </a:p>
          <a:p>
            <a:r>
              <a:rPr lang="en-IN" sz="1600" dirty="0">
                <a:latin typeface="Times New Roman" panose="02020603050405020304" pitchFamily="18" charset="0"/>
                <a:cs typeface="Times New Roman" panose="02020603050405020304" pitchFamily="18" charset="0"/>
              </a:rPr>
              <a:t>Pandas</a:t>
            </a:r>
          </a:p>
          <a:p>
            <a:r>
              <a:rPr lang="en-IN" sz="1600" dirty="0">
                <a:latin typeface="Times New Roman" panose="02020603050405020304" pitchFamily="18" charset="0"/>
                <a:cs typeface="Times New Roman" panose="02020603050405020304" pitchFamily="18" charset="0"/>
              </a:rPr>
              <a:t>NumPy</a:t>
            </a:r>
          </a:p>
          <a:p>
            <a:r>
              <a:rPr lang="en-IN" sz="1600" dirty="0">
                <a:latin typeface="Times New Roman" panose="02020603050405020304" pitchFamily="18" charset="0"/>
                <a:cs typeface="Times New Roman" panose="02020603050405020304" pitchFamily="18" charset="0"/>
              </a:rPr>
              <a:t>Scikit-learn</a:t>
            </a:r>
          </a:p>
          <a:p>
            <a:r>
              <a:rPr lang="en-IN" sz="1600" dirty="0">
                <a:latin typeface="Times New Roman" panose="02020603050405020304" pitchFamily="18" charset="0"/>
                <a:cs typeface="Times New Roman" panose="02020603050405020304" pitchFamily="18" charset="0"/>
              </a:rPr>
              <a:t>Matplotlib</a:t>
            </a: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036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A58A7-0551-B750-F370-A03EA758A7EB}"/>
              </a:ext>
            </a:extLst>
          </p:cNvPr>
          <p:cNvSpPr>
            <a:spLocks noGrp="1"/>
          </p:cNvSpPr>
          <p:nvPr>
            <p:ph type="title"/>
          </p:nvPr>
        </p:nvSpPr>
        <p:spPr>
          <a:xfrm>
            <a:off x="664234" y="-579120"/>
            <a:ext cx="9178506" cy="2560320"/>
          </a:xfrm>
        </p:spPr>
        <p:txBody>
          <a:bodyPr>
            <a:normAutofit/>
          </a:bodyPr>
          <a:lstStyle/>
          <a:p>
            <a:r>
              <a:rPr lang="en-US" sz="3600" dirty="0">
                <a:latin typeface="Times New Roman" panose="02020603050405020304" pitchFamily="18" charset="0"/>
                <a:cs typeface="Times New Roman" panose="02020603050405020304" pitchFamily="18" charset="0"/>
              </a:rPr>
              <a:t>SYSTEM ARCHITECTURE</a:t>
            </a: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A248201B-8821-7801-10C7-9394D6AF2A3A}"/>
              </a:ext>
            </a:extLst>
          </p:cNvPr>
          <p:cNvSpPr>
            <a:spLocks noGrp="1"/>
          </p:cNvSpPr>
          <p:nvPr>
            <p:ph type="body" idx="1"/>
          </p:nvPr>
        </p:nvSpPr>
        <p:spPr/>
        <p:txBody>
          <a:bodyPr/>
          <a:lstStyle/>
          <a:p>
            <a:endParaRPr lang="en-IN"/>
          </a:p>
        </p:txBody>
      </p:sp>
      <p:pic>
        <p:nvPicPr>
          <p:cNvPr id="9" name="Picture 8">
            <a:extLst>
              <a:ext uri="{FF2B5EF4-FFF2-40B4-BE49-F238E27FC236}">
                <a16:creationId xmlns:a16="http://schemas.microsoft.com/office/drawing/2014/main" id="{0BB2A6E7-169C-93E1-E9A3-0A9572240166}"/>
              </a:ext>
            </a:extLst>
          </p:cNvPr>
          <p:cNvPicPr>
            <a:picLocks noChangeAspect="1"/>
          </p:cNvPicPr>
          <p:nvPr/>
        </p:nvPicPr>
        <p:blipFill>
          <a:blip r:embed="rId2"/>
          <a:stretch>
            <a:fillRect/>
          </a:stretch>
        </p:blipFill>
        <p:spPr>
          <a:xfrm>
            <a:off x="1452880" y="1311215"/>
            <a:ext cx="7081520" cy="5055080"/>
          </a:xfrm>
          <a:prstGeom prst="rect">
            <a:avLst/>
          </a:prstGeom>
        </p:spPr>
      </p:pic>
    </p:spTree>
    <p:extLst>
      <p:ext uri="{BB962C8B-B14F-4D97-AF65-F5344CB8AC3E}">
        <p14:creationId xmlns:p14="http://schemas.microsoft.com/office/powerpoint/2010/main" val="2048809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A514E-EB03-119B-B0FD-999C321B2606}"/>
              </a:ext>
            </a:extLst>
          </p:cNvPr>
          <p:cNvSpPr>
            <a:spLocks noGrp="1"/>
          </p:cNvSpPr>
          <p:nvPr>
            <p:ph type="title"/>
          </p:nvPr>
        </p:nvSpPr>
        <p:spPr>
          <a:xfrm>
            <a:off x="1407577" y="-494581"/>
            <a:ext cx="6591985" cy="2599426"/>
          </a:xfrm>
        </p:spPr>
        <p:txBody>
          <a:bodyPr>
            <a:normAutofit/>
          </a:bodyPr>
          <a:lstStyle/>
          <a:p>
            <a:r>
              <a:rPr lang="en-US" sz="3600" dirty="0">
                <a:latin typeface="Times New Roman" panose="02020603050405020304" pitchFamily="18" charset="0"/>
                <a:cs typeface="Times New Roman" panose="02020603050405020304" pitchFamily="18" charset="0"/>
              </a:rPr>
              <a:t>REFERENCES</a:t>
            </a:r>
            <a:endParaRPr lang="en-IN" sz="36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06E4DBF2-6062-CC2F-E7A0-D9FA666ECC2C}"/>
              </a:ext>
            </a:extLst>
          </p:cNvPr>
          <p:cNvSpPr>
            <a:spLocks noGrp="1"/>
          </p:cNvSpPr>
          <p:nvPr>
            <p:ph type="body" idx="1"/>
          </p:nvPr>
        </p:nvSpPr>
        <p:spPr>
          <a:xfrm>
            <a:off x="1407577" y="1"/>
            <a:ext cx="7624279" cy="6504972"/>
          </a:xfrm>
        </p:spPr>
        <p:txBody>
          <a:bodyPr>
            <a:normAutofit/>
          </a:bodyPr>
          <a:lstStyle/>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L. </a:t>
            </a:r>
            <a:r>
              <a:rPr lang="en-IN" sz="1600" dirty="0" err="1">
                <a:latin typeface="Times New Roman" panose="02020603050405020304" pitchFamily="18" charset="0"/>
                <a:cs typeface="Times New Roman" panose="02020603050405020304" pitchFamily="18" charset="0"/>
              </a:rPr>
              <a:t>Breiman</a:t>
            </a:r>
            <a:r>
              <a:rPr lang="en-IN" sz="1600" dirty="0">
                <a:latin typeface="Times New Roman" panose="02020603050405020304" pitchFamily="18" charset="0"/>
                <a:cs typeface="Times New Roman" panose="02020603050405020304" pitchFamily="18" charset="0"/>
              </a:rPr>
              <a:t>, "Random Forests," Machine Learning, vol. 45, no. 1, pp. 5–32, 2001.</a:t>
            </a: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T. Chen and C. </a:t>
            </a:r>
            <a:r>
              <a:rPr lang="en-IN" sz="1600" dirty="0" err="1">
                <a:latin typeface="Times New Roman" panose="02020603050405020304" pitchFamily="18" charset="0"/>
                <a:cs typeface="Times New Roman" panose="02020603050405020304" pitchFamily="18" charset="0"/>
              </a:rPr>
              <a:t>Guestrin</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XGBoost</a:t>
            </a:r>
            <a:r>
              <a:rPr lang="en-IN" sz="1600" dirty="0">
                <a:latin typeface="Times New Roman" panose="02020603050405020304" pitchFamily="18" charset="0"/>
                <a:cs typeface="Times New Roman" panose="02020603050405020304" pitchFamily="18" charset="0"/>
              </a:rPr>
              <a:t>: A Scalable Tree Boosting System," Proceedings of the 22nd ACM SIGKDD International Conference on Knowledge Discovery and Data Mining, 2016.</a:t>
            </a: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S. Russell and P. Norvig, Artificial Intelligence: A Modern Approach, 4th Edition, Pearson, 2020.</a:t>
            </a: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I. Goodfellow, Y. Bengio, and A. Courville, Deep Learning, MIT Press, 2016.</a:t>
            </a: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Kaggle, Credit Card Fraud Detection Dataset.</a:t>
            </a:r>
          </a:p>
          <a:p>
            <a:pPr marL="285750" indent="-285750">
              <a:buFont typeface="Wingdings" panose="05000000000000000000" pitchFamily="2" charset="2"/>
              <a:buChar char="§"/>
            </a:pPr>
            <a:r>
              <a:rPr lang="en-IN" sz="1600" dirty="0">
                <a:latin typeface="Times New Roman" panose="02020603050405020304" pitchFamily="18" charset="0"/>
                <a:cs typeface="Times New Roman" panose="02020603050405020304" pitchFamily="18" charset="0"/>
              </a:rPr>
              <a:t>IEEE Xplore Digital Library – Research papers on Financial Fraud Detection and Machine Learning.</a:t>
            </a:r>
          </a:p>
        </p:txBody>
      </p:sp>
    </p:spTree>
    <p:extLst>
      <p:ext uri="{BB962C8B-B14F-4D97-AF65-F5344CB8AC3E}">
        <p14:creationId xmlns:p14="http://schemas.microsoft.com/office/powerpoint/2010/main" val="1349411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C5C6EF-14A1-BB77-A6FF-44B8562F869F}"/>
              </a:ext>
            </a:extLst>
          </p:cNvPr>
          <p:cNvPicPr>
            <a:picLocks noChangeAspect="1"/>
          </p:cNvPicPr>
          <p:nvPr/>
        </p:nvPicPr>
        <p:blipFill>
          <a:blip r:embed="rId2"/>
          <a:stretch>
            <a:fillRect/>
          </a:stretch>
        </p:blipFill>
        <p:spPr>
          <a:xfrm>
            <a:off x="2310711" y="1492818"/>
            <a:ext cx="5212691" cy="4088472"/>
          </a:xfrm>
          <a:prstGeom prst="rect">
            <a:avLst/>
          </a:prstGeom>
        </p:spPr>
      </p:pic>
    </p:spTree>
    <p:extLst>
      <p:ext uri="{BB962C8B-B14F-4D97-AF65-F5344CB8AC3E}">
        <p14:creationId xmlns:p14="http://schemas.microsoft.com/office/powerpoint/2010/main" val="351600565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493</TotalTime>
  <Words>653</Words>
  <Application>Microsoft Office PowerPoint</Application>
  <PresentationFormat>On-screen Show (4:3)</PresentationFormat>
  <Paragraphs>69</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Arial</vt:lpstr>
      <vt:lpstr>Calibri</vt:lpstr>
      <vt:lpstr>Century Gothic</vt:lpstr>
      <vt:lpstr>Noto Sans Symbols</vt:lpstr>
      <vt:lpstr>Times New Roman</vt:lpstr>
      <vt:lpstr>Wingdings</vt:lpstr>
      <vt:lpstr>Wingdings 3</vt:lpstr>
      <vt:lpstr>Wisp</vt:lpstr>
      <vt:lpstr>    TEEGALA KRISHNA REDDY ENGINEERING COLLEGE (Approved By AICTE , Affiliated To JNTUH, Accredited By NBA And NAAC)</vt:lpstr>
      <vt:lpstr>PowerPoint Presentation</vt:lpstr>
      <vt:lpstr>CONTENTS</vt:lpstr>
      <vt:lpstr>ABSTRACT</vt:lpstr>
      <vt:lpstr>EXISTING SYSTEM</vt:lpstr>
      <vt:lpstr>PROPOSED SYSTEM</vt:lpstr>
      <vt:lpstr> SYSTEM REQUIREMENTS</vt:lpstr>
      <vt:lpstr>SYSTEM ARCHITECTURE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TEEGALA KRISHNA REDDY ENGINEERING COLLEGE (Approved By AICTE , Affiliated To JNTUH, Accredited By NBA And NAAC)</dc:title>
  <dc:creator>Niharika Maheshwaram</dc:creator>
  <cp:lastModifiedBy>MAHESHWARAM</cp:lastModifiedBy>
  <cp:revision>8</cp:revision>
  <dcterms:modified xsi:type="dcterms:W3CDTF">2026-08-07T14:41:46Z</dcterms:modified>
</cp:coreProperties>
</file>